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C5F2D"/>
                </a:solidFill>
                <a:latin typeface="Calibri"/>
              </a:rPr>
              <a:t>Ratio to field value  (1.0 = perfect)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Field (target = 1.0)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Polarization</c:v>
                  </c:pt>
                  <c:pt idx="1">
                    <c:v>Turning-angle std</c:v>
                  </c:pt>
                  <c:pt idx="2">
                    <c:v>NND median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Vicsek  (η = 1.3)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Polarization</c:v>
                  </c:pt>
                  <c:pt idx="1">
                    <c:v>Turning-angle std</c:v>
                  </c:pt>
                  <c:pt idx="2">
                    <c:v>NND median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1.002</c:v>
                </c:pt>
                <c:pt idx="1">
                  <c:v>2.185</c:v>
                </c:pt>
                <c:pt idx="2">
                  <c:v>0.656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C5F2D"/>
                </a:solidFill>
                <a:latin typeface="Calibri"/>
              </a:rPr>
              <a:t>Collapse from perfect initial order  (Φ₀ = 1.000)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1</c:v>
                </c:pt>
              </c:strCache>
            </c:strRef>
          </c:tx>
          <c:spPr>
            <a:solidFill>
              <a:srgbClr val="2C5F2D"/>
            </a:solidFill>
            <a:ln w="2540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</c:v>
                  </c:pt>
                  <c:pt idx="1">
                    <c:v>0.04</c:v>
                  </c:pt>
                  <c:pt idx="2">
                    <c:v>0.08</c:v>
                  </c:pt>
                  <c:pt idx="3">
                    <c:v>0.12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0.60</c:v>
                  </c:pt>
                  <c:pt idx="8">
                    <c:v>0.80</c:v>
                  </c:pt>
                  <c:pt idx="9">
                    <c:v>1.00</c:v>
                  </c:pt>
                  <c:pt idx="10">
                    <c:v>1.50</c:v>
                  </c:pt>
                  <c:pt idx="11">
                    <c:v>2.00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0.48</c:v>
                </c:pt>
                <c:pt idx="2">
                  <c:v>0.26</c:v>
                </c:pt>
                <c:pt idx="3">
                  <c:v>0.16</c:v>
                </c:pt>
                <c:pt idx="4">
                  <c:v>0.088</c:v>
                </c:pt>
                <c:pt idx="5">
                  <c:v>0.052</c:v>
                </c:pt>
                <c:pt idx="6">
                  <c:v>0.042</c:v>
                </c:pt>
                <c:pt idx="7">
                  <c:v>0.038</c:v>
                </c:pt>
                <c:pt idx="8">
                  <c:v>0.037</c:v>
                </c:pt>
                <c:pt idx="9">
                  <c:v>0.037</c:v>
                </c:pt>
                <c:pt idx="10">
                  <c:v>0.037</c:v>
                </c:pt>
                <c:pt idx="11">
                  <c:v>0.037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2</c:v>
                </c:pt>
              </c:strCache>
            </c:strRef>
          </c:tx>
          <c:spPr>
            <a:solidFill>
              <a:srgbClr val="97BC62"/>
            </a:solidFill>
            <a:ln w="2540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</c:v>
                  </c:pt>
                  <c:pt idx="1">
                    <c:v>0.04</c:v>
                  </c:pt>
                  <c:pt idx="2">
                    <c:v>0.08</c:v>
                  </c:pt>
                  <c:pt idx="3">
                    <c:v>0.12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0.60</c:v>
                  </c:pt>
                  <c:pt idx="8">
                    <c:v>0.80</c:v>
                  </c:pt>
                  <c:pt idx="9">
                    <c:v>1.00</c:v>
                  </c:pt>
                  <c:pt idx="10">
                    <c:v>1.50</c:v>
                  </c:pt>
                  <c:pt idx="11">
                    <c:v>2.00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0.51</c:v>
                </c:pt>
                <c:pt idx="2">
                  <c:v>0.28</c:v>
                </c:pt>
                <c:pt idx="3">
                  <c:v>0.17</c:v>
                </c:pt>
                <c:pt idx="4">
                  <c:v>0.095</c:v>
                </c:pt>
                <c:pt idx="5">
                  <c:v>0.055</c:v>
                </c:pt>
                <c:pt idx="6">
                  <c:v>0.041</c:v>
                </c:pt>
                <c:pt idx="7">
                  <c:v>0.038</c:v>
                </c:pt>
                <c:pt idx="8">
                  <c:v>0.037</c:v>
                </c:pt>
                <c:pt idx="9">
                  <c:v>0.037</c:v>
                </c:pt>
                <c:pt idx="10">
                  <c:v>0.037</c:v>
                </c:pt>
                <c:pt idx="11">
                  <c:v>0.037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3</c:v>
                </c:pt>
              </c:strCache>
            </c:strRef>
          </c:tx>
          <c:spPr>
            <a:solidFill>
              <a:srgbClr val="B54B3A"/>
            </a:solidFill>
            <a:ln w="25400" cap="flat">
              <a:solidFill>
                <a:srgbClr val="B54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4B3A"/>
              </a:solidFill>
              <a:ln w="9525" cap="flat">
                <a:solidFill>
                  <a:srgbClr val="B54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</c:v>
                  </c:pt>
                  <c:pt idx="1">
                    <c:v>0.04</c:v>
                  </c:pt>
                  <c:pt idx="2">
                    <c:v>0.08</c:v>
                  </c:pt>
                  <c:pt idx="3">
                    <c:v>0.12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0.60</c:v>
                  </c:pt>
                  <c:pt idx="8">
                    <c:v>0.80</c:v>
                  </c:pt>
                  <c:pt idx="9">
                    <c:v>1.00</c:v>
                  </c:pt>
                  <c:pt idx="10">
                    <c:v>1.50</c:v>
                  </c:pt>
                  <c:pt idx="11">
                    <c:v>2.00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0.455</c:v>
                </c:pt>
                <c:pt idx="2">
                  <c:v>0.24</c:v>
                </c:pt>
                <c:pt idx="3">
                  <c:v>0.15</c:v>
                </c:pt>
                <c:pt idx="4">
                  <c:v>0.082</c:v>
                </c:pt>
                <c:pt idx="5">
                  <c:v>0.05</c:v>
                </c:pt>
                <c:pt idx="6">
                  <c:v>0.04</c:v>
                </c:pt>
                <c:pt idx="7">
                  <c:v>0.037</c:v>
                </c:pt>
                <c:pt idx="8">
                  <c:v>0.036</c:v>
                </c:pt>
                <c:pt idx="9">
                  <c:v>0.037</c:v>
                </c:pt>
                <c:pt idx="10">
                  <c:v>0.037</c:v>
                </c:pt>
                <c:pt idx="11">
                  <c:v>0.037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C5F2D"/>
                </a:solidFill>
                <a:latin typeface="Calibri"/>
              </a:rPr>
              <a:t>α sweep: no value matches all three metrics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Void strength (0–1)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0.12</c:v>
                </c:pt>
                <c:pt idx="2">
                  <c:v>0.32</c:v>
                </c:pt>
                <c:pt idx="3">
                  <c:v>0.58</c:v>
                </c:pt>
                <c:pt idx="4">
                  <c:v>0.82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Polarization Φ</c:v>
                </c:pt>
              </c:strCache>
            </c:strRef>
          </c:tx>
          <c:spPr>
            <a:solidFill>
              <a:srgbClr val="97BC62"/>
            </a:solidFill>
            <a:ln w="3175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0.82</c:v>
                </c:pt>
                <c:pt idx="1">
                  <c:v>0.86</c:v>
                </c:pt>
                <c:pt idx="2">
                  <c:v>0.88</c:v>
                </c:pt>
                <c:pt idx="3">
                  <c:v>0.885</c:v>
                </c:pt>
                <c:pt idx="4">
                  <c:v>0.81</c:v>
                </c:pt>
                <c:pt idx="5">
                  <c:v>0.669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NND median / 3.89 cm</c:v>
                </c:pt>
              </c:strCache>
            </c:strRef>
          </c:tx>
          <c:spPr>
            <a:solidFill>
              <a:srgbClr val="B54B3A"/>
            </a:solidFill>
            <a:ln w="31750" cap="flat">
              <a:solidFill>
                <a:srgbClr val="B54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4B3A"/>
              </a:solidFill>
              <a:ln w="9525" cap="flat">
                <a:solidFill>
                  <a:srgbClr val="B54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0.7455012853470436</c:v>
                </c:pt>
                <c:pt idx="1">
                  <c:v>0.6555269922879177</c:v>
                </c:pt>
                <c:pt idx="2">
                  <c:v>0.5784061696658097</c:v>
                </c:pt>
                <c:pt idx="3">
                  <c:v>0.5526992287917737</c:v>
                </c:pt>
                <c:pt idx="4">
                  <c:v>0.5269922879177378</c:v>
                </c:pt>
                <c:pt idx="5">
                  <c:v>0.5012853470437018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498080" y="36576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CSCI-5423  ·  Biologically Inspired Multi-Agent Systems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vs. Position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models of locust collective motion against field trajectory data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54864" cy="1188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200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 Albrecht  ·  George Stephenson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competing theories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local interaction rule actually drives locust swarm coordination?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73152" cy="3017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VICSEK (1995)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copy the mean heading of neighbors within a fixed radius.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Density-driven phase transition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neighbor density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support: Buhl et al. 2006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00200"/>
            <a:ext cx="73152" cy="3017520"/>
          </a:xfrm>
          <a:prstGeom prst="rect">
            <a:avLst/>
          </a:prstGeom>
          <a:solidFill>
            <a:srgbClr val="B54B3A"/>
          </a:solidFill>
          <a:ln w="12700">
            <a:solidFill>
              <a:srgbClr val="B54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 et al. (2025)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steer toward the positions of conspecifics ahead — not their headings.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forward void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Ring-attractor neural circuit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&amp; field evidence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which rules — if any — reproduce real locust statistics?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ground truth: Weinburd et al. (2024)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individual-level trajectory dataset from free-ranging locust hopper bands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26060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≈20 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4612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trajectories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6060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hopper bands  ·  27 clips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5880" y="3364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Chortoicetes terminifera (Australian plague locust)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3703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data show a pronounced anisotropic forward void in the body-centered neighbor density map — a spatial signature absent from standard SPP models and predicted by the Sayin et al. pull mechanism.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Weinburd, Kasper, Dauphin, Garnier, &amp; Rundell (2024). Dryad.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metrics, one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metric functions applied to field data and every model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|⟨e^{iθ}⟩|  — global order parameter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25880" y="27157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600200"/>
            <a:ext cx="39776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Turning-angle std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4068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Frame-to-frame heading change variability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40680" y="27157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 rad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337560"/>
            <a:ext cx="39776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 density map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25880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Body-centered, focal heading up — forward void?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325880" y="44531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void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3337560"/>
            <a:ext cx="39776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118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Nearest-neighbor distance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40680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spacing — median &amp; mean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40680" y="44531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 cm  /  4.47 cm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judged on all four metrics  ·  10-seed ensembles  ·  mean ± std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Field-matched geometry and sampling across all models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× 55.9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Weinburd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(agents)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Density-matched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step 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 s  (25 Hz)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frame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steps  ·  80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500-step burn-in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Short-range repulsion at 1.5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 per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mean ± std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— see discussion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9659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2011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 (NumPy, vectorized)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9260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9224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shared metric functions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38862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3931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10-seed ensemble vs. field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functions imported once, shared between field data and every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Vicsek: right order, wrong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polarization to 0.2% — but the match is bought with pathological noise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η = 1.3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391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1072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matched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291072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0.822 ± 0.019  vs  0.820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6974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1072" y="2670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Turning-angle std 2.2× too wide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91072" y="2944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0.603 ± 0.005 rad  vs  0.276 rad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355848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91072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NND 33% too small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91072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 cm  vs  3.89 cm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014216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10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void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291072" y="4261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map is isotropic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ADEC2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doing work the interaction rule isn't: a symptom, not a tuning choice.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model: order destruction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position-based steering doesn't merely fail — it actively dismantles order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00200"/>
            <a:ext cx="292608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0.037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8521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Φ,  all sweeps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3200400"/>
            <a:ext cx="2926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ADE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200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variants tested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0" y="3749040"/>
            <a:ext cx="2926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ADE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749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dt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3232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of order decay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4297680"/>
            <a:ext cx="2926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ADE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297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0.1–2.9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3232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sweep (rad), no peak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and ordered initializations converge to identical steady states (0.0372 vs 0.0373).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pull model can't sustain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argument — not an implementation artifact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67712" y="3136392"/>
            <a:ext cx="219456" cy="21945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3108960"/>
            <a:ext cx="0" cy="-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17031" y="2313713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3016" y="2786526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3543" y="3485711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0730" y="4001696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1545" y="4032223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75560" y="3559410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5033" y="2860225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7846" y="2344240"/>
            <a:ext cx="146304" cy="14630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Disordered swarm: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bearings to neighbors are approximately isotropic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Weight function is symmetric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1892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front-weighting  w(β) = cos²(β/2)  is even under  β → −β  reflection.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Isotropic bearings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6700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disordered swarm, bearings to neighbors are uniformly distributed around the focal agent.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Expected steering =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4472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symmetric weighting applied to an isotropic bearing distribution produces zero net lateral signal in expectation.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Noise destroys weak asymmetries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4224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deviations from isotropy — the only source of signal — are washed out by heading noise faster than they accumulate.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Sayin et al.'s emphasis on the ring-attractor circuit — temporal integration, not per-step steering.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Anisotropic Vicsek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Vicsek alignment modified to weight forward neighbors — the only model to recover the forward void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0.6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Forward-weighted coupling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in a 60° forward cone carry weight (1+α) vs (1−α) for rear neighbors in heading consensus.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54480"/>
            <a:ext cx="260604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727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0.8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Anisotropic noise suppression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noise drops when forward neighbors are present: η_eff = η_base · (1 − λ · f_forward).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260604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727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v(Φ)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Order-dependent speed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scales with local order between v_min = 2.7 cm/s and v_max = 11.76 cm/s.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MODEL TO PRODUCE A FORWARD VOID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0.885 ± 0.025</a:t>
            </a:r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η_base = 1.1 rad</a:t>
            </a:r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front–rear asymmetry in neighbor map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reframed from what we initially called a "hybrid" — there is no position-based pull component; it is anisotropic alignment.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mechanism, two coupled failures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α that creates the void also over-concentrates the swarm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pathology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Forward-weighted coupling creates the void by concentrating neighbors anteriorly. But that same concentration: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43600" y="2834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heading consensus  →  over-polarization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inter-agent spacing  →  under-NND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4114800"/>
            <a:ext cx="29260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α value matches all four metrics — the tradeoff is structural.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Over-polarization and under-NND are the same pathology, not two separate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model matches all four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across three models  ·  10-seed ensembles  ·  mean ± std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645920"/>
                <a:gridCol w="16459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Anisotropic Vicsek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Polarization 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 ± 0.019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 ± 0.001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 ± 0.025  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Turning-angle std (rad)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 ± 0.005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 ± 0.008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NND median (cm)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 ± 0.04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 ± 0.03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void in neighbor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26060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Vicsek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at the cost of spatial structure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4069080"/>
            <a:ext cx="26060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4069080"/>
            <a:ext cx="73152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2900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incapable of sustaining order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4069080"/>
            <a:ext cx="26060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ADEC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4069080"/>
            <a:ext cx="73152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Anis. Vicsek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emerges — but scalar metrics worsen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matches all four. The gaps are informative — they point to what's missing.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 ·  what's missing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103120"/>
          </a:xfrm>
          <a:prstGeom prst="rect">
            <a:avLst/>
          </a:prstGeom>
          <a:solidFill>
            <a:srgbClr val="3A7236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Vicsek: phenomenological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global order but requires noise that produces turning-angle distributions 2.2× too wide. The noise is doing work the interaction rule isn't.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2103120"/>
          </a:xfrm>
          <a:prstGeom prst="rect">
            <a:avLst/>
          </a:prstGeom>
          <a:solidFill>
            <a:srgbClr val="3A7236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Pull: structurally sterile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order from any initial condition. A symmetric instantaneous rule on an isotropic bearing distribution cannot produce a net steering signal.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2103120"/>
          </a:xfrm>
          <a:prstGeom prst="rect">
            <a:avLst/>
          </a:prstGeom>
          <a:solidFill>
            <a:srgbClr val="3A7236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Anisotropic Vicsek: partial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model to reproduce the forward void — but the mechanism that creates it also over-aligns and over-clusters. One pathology, two failures.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 NEXT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inertia  ·  explicit attraction zones  ·  temporal bearing integration  ·  open-boundary simulations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C5F2D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 Albrecht  ·  George Stephenson  ·  CSCI-5423,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Alignment vs. Position: Locust Collective Motion</dc:title>
  <dc:subject>PptxGenJS Presentation</dc:subject>
  <dc:creator>Asher Albrecht &amp; George Stephenson</dc:creator>
  <cp:lastModifiedBy>Asher Albrecht &amp; George Stephenson</cp:lastModifiedBy>
  <cp:revision>1</cp:revision>
  <dcterms:created xsi:type="dcterms:W3CDTF">2026-04-20T22:02:44Z</dcterms:created>
  <dcterms:modified xsi:type="dcterms:W3CDTF">2026-04-20T22:02:44Z</dcterms:modified>
</cp:coreProperties>
</file>